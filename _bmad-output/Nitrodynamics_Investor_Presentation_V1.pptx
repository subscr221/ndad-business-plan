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  <c:pt idx="5">
                  <c:v>Y6</c:v>
                </c:pt>
                <c:pt idx="6">
                  <c:v>Y7</c:v>
                </c:pt>
                <c:pt idx="7">
                  <c:v>Y8</c:v>
                </c:pt>
                <c:pt idx="8">
                  <c:v>Y9</c:v>
                </c:pt>
                <c:pt idx="9">
                  <c:v>Y10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</c:v>
                </c:pt>
                <c:pt idx="1">
                  <c:v>203</c:v>
                </c:pt>
                <c:pt idx="2">
                  <c:v>491</c:v>
                </c:pt>
                <c:pt idx="3">
                  <c:v>855</c:v>
                </c:pt>
                <c:pt idx="4">
                  <c:v>1448</c:v>
                </c:pt>
                <c:pt idx="5">
                  <c:v>2180</c:v>
                </c:pt>
                <c:pt idx="6">
                  <c:v>2884</c:v>
                </c:pt>
                <c:pt idx="7">
                  <c:v>3659</c:v>
                </c:pt>
                <c:pt idx="8">
                  <c:v>4381</c:v>
                </c:pt>
                <c:pt idx="9">
                  <c:v>5055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5AD-48D8-8B2D-567AF91592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1DA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ln w="27940">
              <a:solidFill>
                <a:srgbClr val="00C290"/>
              </a:solidFill>
            </a:ln>
          </c:spPr>
          <c:marker>
            <c:symbol val="diamond"/>
            <c:size val="5"/>
            <c:spPr>
              <a:solidFill>
                <a:srgbClr val="00C290"/>
              </a:solidFill>
            </c:spPr>
          </c:marker>
          <c:cat>
            <c:strRef>
              <c:f>Sheet1!$A$2:$A$11</c:f>
              <c:strCache>
                <c:ptCount val="10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  <c:pt idx="5">
                  <c:v>Y6</c:v>
                </c:pt>
                <c:pt idx="6">
                  <c:v>Y7</c:v>
                </c:pt>
                <c:pt idx="7">
                  <c:v>Y8</c:v>
                </c:pt>
                <c:pt idx="8">
                  <c:v>Y9</c:v>
                </c:pt>
                <c:pt idx="9">
                  <c:v>Y10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</c:v>
                </c:pt>
                <c:pt idx="1">
                  <c:v>56</c:v>
                </c:pt>
                <c:pt idx="2">
                  <c:v>62</c:v>
                </c:pt>
                <c:pt idx="3">
                  <c:v>64</c:v>
                </c:pt>
                <c:pt idx="4">
                  <c:v>65</c:v>
                </c:pt>
                <c:pt idx="5">
                  <c:v>66</c:v>
                </c:pt>
                <c:pt idx="6">
                  <c:v>66</c:v>
                </c:pt>
                <c:pt idx="7">
                  <c:v>67</c:v>
                </c:pt>
                <c:pt idx="8">
                  <c:v>67</c:v>
                </c:pt>
                <c:pt idx="9">
                  <c:v>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F6-46A4-93A8-12D591576D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1DA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59B41-7A97-4246-802E-F1A3A6B4577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D8935-AE04-4A60-8673-96EC66B9C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02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</a:t>
            </a:r>
          </a:p>
          <a:p>
            <a:r>
              <a:rPr lang="en-US" dirty="0" err="1"/>
              <a:t>Nitrodynamics</a:t>
            </a:r>
            <a:r>
              <a:rPr lang="en-US" dirty="0"/>
              <a:t> is not six startups; it is one reusable defense engineering platform </a:t>
            </a:r>
            <a:r>
              <a:rPr lang="en-US" dirty="0" err="1"/>
              <a:t>industrialised</a:t>
            </a:r>
            <a:r>
              <a:rPr lang="en-US" dirty="0"/>
              <a:t> into six product lines.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D8935-AE04-4A60-8673-96EC66B9C3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92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530352"/>
            <a:ext cx="511041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00C290"/>
                </a:solidFill>
                <a:latin typeface="Aptos"/>
              </a:rPr>
              <a:t>NITRODYNAMICS</a:t>
            </a:r>
            <a:r>
              <a:rPr lang="en-US" sz="1500" b="1" i="0" dirty="0">
                <a:solidFill>
                  <a:srgbClr val="00C290"/>
                </a:solidFill>
                <a:latin typeface="Aptos"/>
              </a:rPr>
              <a:t> AEROSPACE AND DEFENCE PVT LTD</a:t>
            </a:r>
            <a:endParaRPr sz="1500" b="1" i="0" dirty="0">
              <a:solidFill>
                <a:srgbClr val="00C29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152144"/>
            <a:ext cx="749807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dirty="0">
                <a:solidFill>
                  <a:srgbClr val="FFFFFF"/>
                </a:solidFill>
                <a:latin typeface="Aptos"/>
              </a:rPr>
              <a:t>A</a:t>
            </a:r>
            <a:r>
              <a:rPr lang="en-US" sz="4200" b="1" i="0" dirty="0">
                <a:solidFill>
                  <a:srgbClr val="FFFFFF"/>
                </a:solidFill>
                <a:latin typeface="Aptos"/>
              </a:rPr>
              <a:t> New-Age Defence Prime</a:t>
            </a:r>
            <a:endParaRPr sz="42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761488"/>
            <a:ext cx="621792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 dirty="0">
                <a:solidFill>
                  <a:srgbClr val="DAE5EE"/>
                </a:solidFill>
                <a:latin typeface="Aptos"/>
              </a:rPr>
              <a:t>Engineer once, </a:t>
            </a:r>
            <a:r>
              <a:rPr lang="en-US" sz="1900" b="0" i="0" dirty="0">
                <a:solidFill>
                  <a:srgbClr val="DAE5EE"/>
                </a:solidFill>
                <a:latin typeface="Aptos"/>
              </a:rPr>
              <a:t>Reuse Everywhere</a:t>
            </a:r>
            <a:r>
              <a:rPr sz="1900" b="0" i="0" dirty="0">
                <a:solidFill>
                  <a:srgbClr val="DAE5EE"/>
                </a:solidFill>
                <a:latin typeface="Aptos"/>
              </a:rPr>
              <a:t>.
</a:t>
            </a:r>
            <a:r>
              <a:rPr lang="en-US" sz="1900" b="0" i="0" dirty="0">
                <a:solidFill>
                  <a:srgbClr val="DAE5EE"/>
                </a:solidFill>
                <a:latin typeface="Aptos"/>
              </a:rPr>
              <a:t>Six </a:t>
            </a:r>
            <a:r>
              <a:rPr sz="1900" b="0" i="0" dirty="0">
                <a:solidFill>
                  <a:srgbClr val="DAE5EE"/>
                </a:solidFill>
                <a:latin typeface="Aptos"/>
              </a:rPr>
              <a:t>product lines, four domains.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56119"/>
            <a:ext cx="1874519" cy="310896"/>
          </a:xfrm>
          <a:prstGeom prst="roundRect">
            <a:avLst/>
          </a:prstGeom>
          <a:solidFill>
            <a:srgbClr val="10344C"/>
          </a:solidFill>
          <a:ln w="7620">
            <a:solidFill>
              <a:srgbClr val="C4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9327" y="3835858"/>
            <a:ext cx="17282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Aptos"/>
              </a:rPr>
              <a:t>Seed Ask: Rs.450 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960120"/>
            <a:ext cx="3383280" cy="896112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52360" y="960120"/>
            <a:ext cx="54864" cy="896112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16952" y="1106424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OPENING ORDER 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1344168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Rs.105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1327" y="1563624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CBD5E1"/>
                </a:solidFill>
                <a:latin typeface="Aptos"/>
              </a:rPr>
              <a:t>Phase 1 of firm Rs.210 Cr </a:t>
            </a:r>
            <a:r>
              <a:rPr sz="850" b="0" i="0" dirty="0" err="1">
                <a:solidFill>
                  <a:srgbClr val="CBD5E1"/>
                </a:solidFill>
                <a:latin typeface="Aptos"/>
              </a:rPr>
              <a:t>MoQ</a:t>
            </a:r>
            <a:endParaRPr sz="850" b="0" i="0" dirty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52360" y="2103120"/>
            <a:ext cx="3383280" cy="896112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2103120"/>
            <a:ext cx="54864" cy="896112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16952" y="2249424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10-YR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2487168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Rs.21,200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5103" y="2743200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CBD5E1"/>
                </a:solidFill>
                <a:latin typeface="Aptos"/>
              </a:rPr>
              <a:t>six product 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246120"/>
            <a:ext cx="3383280" cy="896112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52360" y="3246120"/>
            <a:ext cx="54864" cy="896112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16952" y="3392424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Y10 EBITDA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3630168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ptos"/>
              </a:rPr>
              <a:t>46.4%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1327" y="3825829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CBD5E1"/>
                </a:solidFill>
                <a:latin typeface="Aptos"/>
              </a:rPr>
              <a:t>platform reuse 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8D9EB0"/>
                </a:solidFill>
                <a:latin typeface="Apto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8D9EB0"/>
                </a:solidFill>
                <a:latin typeface="Aptos"/>
              </a:rPr>
              <a:t>Confidential | Investor presentation | Figures in INR Crore unless noted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INVESTMENT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 dirty="0">
                <a:solidFill>
                  <a:srgbClr val="061423"/>
                </a:solidFill>
                <a:latin typeface="Aptos"/>
              </a:rPr>
              <a:t>The investment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Six product lines ride one reusable engineering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3375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6276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C29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8424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61423"/>
                </a:solidFill>
                <a:latin typeface="Aptos"/>
              </a:rPr>
              <a:t>Start with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95728"/>
            <a:ext cx="278892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3D4C5C"/>
                </a:solidFill>
                <a:latin typeface="Aptos"/>
              </a:rPr>
              <a:t>Rs.105 Cr opening ESM order book: Phase 1 of firm Rs.210 Cr </a:t>
            </a:r>
            <a:r>
              <a:rPr sz="1150" b="0" i="0" dirty="0" err="1">
                <a:solidFill>
                  <a:srgbClr val="3D4C5C"/>
                </a:solidFill>
                <a:latin typeface="Aptos"/>
              </a:rPr>
              <a:t>iDEX</a:t>
            </a:r>
            <a:r>
              <a:rPr sz="1150" b="0" i="0" dirty="0">
                <a:solidFill>
                  <a:srgbClr val="3D4C5C"/>
                </a:solidFill>
                <a:latin typeface="Aptos"/>
              </a:rPr>
              <a:t> ESM </a:t>
            </a:r>
            <a:r>
              <a:rPr sz="1150" b="0" i="0" dirty="0" err="1">
                <a:solidFill>
                  <a:srgbClr val="3D4C5C"/>
                </a:solidFill>
                <a:latin typeface="Aptos"/>
              </a:rPr>
              <a:t>MoQ</a:t>
            </a:r>
            <a:endParaRPr sz="1150" b="0" i="0" dirty="0">
              <a:solidFill>
                <a:srgbClr val="3D4C5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375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276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C29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8424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061423"/>
                </a:solidFill>
                <a:latin typeface="Aptos"/>
              </a:rPr>
              <a:t>Engineer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95728"/>
            <a:ext cx="278892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3D4C5C"/>
                </a:solidFill>
                <a:latin typeface="Aptos"/>
              </a:rPr>
              <a:t>M1-M5 building blocks reused across radar, EW, C-UAS, UAS, maritime autonomy and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417320"/>
            <a:ext cx="33375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276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C29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8424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61423"/>
                </a:solidFill>
                <a:latin typeface="Aptos"/>
              </a:rPr>
              <a:t>Margins compound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95728"/>
            <a:ext cx="278892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3D4C5C"/>
                </a:solidFill>
                <a:latin typeface="Aptos"/>
              </a:rPr>
              <a:t>Gross margin rises from ~51% to ~67%; Y10 EBITDA margin reaches 46.4%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160520"/>
            <a:ext cx="2542032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4160520"/>
            <a:ext cx="54864" cy="1069848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4306824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10-YR CUMULATIVE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544568"/>
            <a:ext cx="2249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1423"/>
                </a:solidFill>
                <a:latin typeface="Aptos"/>
              </a:rPr>
              <a:t>Rs.21,200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846320"/>
            <a:ext cx="2249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Six product 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7287" y="4160520"/>
            <a:ext cx="2542032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47287" y="4160520"/>
            <a:ext cx="54864" cy="106984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79" y="4306824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Y10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79" y="4544568"/>
            <a:ext cx="2249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1423"/>
                </a:solidFill>
                <a:latin typeface="Aptos"/>
              </a:rPr>
              <a:t>Rs.5,055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79" y="4846320"/>
            <a:ext cx="2249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Mature run-rate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7" y="4160520"/>
            <a:ext cx="2542032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36207" y="4160520"/>
            <a:ext cx="54864" cy="10698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799" y="4306824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Y10 EBITDA / MARGIN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4544568"/>
            <a:ext cx="2249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1423"/>
                </a:solidFill>
                <a:latin typeface="Aptos"/>
              </a:rPr>
              <a:t>Rs.2,347 Cr / 46.4%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799" y="4846320"/>
            <a:ext cx="2249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vs 10-15% legacy-prime norm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25128" y="4160520"/>
            <a:ext cx="2542032" cy="1069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025128" y="4160520"/>
            <a:ext cx="54864" cy="10698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89719" y="4306824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10-YR CUMULATIVE FCF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4544568"/>
            <a:ext cx="2249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1423"/>
                </a:solidFill>
                <a:latin typeface="Aptos"/>
              </a:rPr>
              <a:t>Rs.4,803 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4846320"/>
            <a:ext cx="2249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After tax, capex, WC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6968" y="5605272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C290"/>
                </a:solidFill>
                <a:latin typeface="Aptos"/>
              </a:rPr>
              <a:t>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5" y="5797296"/>
            <a:ext cx="10058400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61423"/>
                </a:solidFill>
                <a:latin typeface="Aptos"/>
              </a:rPr>
              <a:t>The equity funds a platform flywheel - not six disconnected R&amp;D bets.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3-second rule: If the investor remembers one thing, it is reusable platform plus Day-1 order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61423"/>
                </a:solidFill>
                <a:latin typeface="Aptos"/>
              </a:rPr>
              <a:t>Why now: India needs indigenous multi-domain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The demand window is open across EW, radar, drones, autonomous maritime and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32461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325880"/>
            <a:ext cx="54864" cy="841248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472184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EW / SIGINT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09928"/>
            <a:ext cx="2953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1423"/>
                </a:solidFill>
                <a:latin typeface="Aptos"/>
              </a:rPr>
              <a:t>USD 22-25bn/yr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783080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6-8% CAGR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325880"/>
            <a:ext cx="32461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1688" y="1325880"/>
            <a:ext cx="54864" cy="84124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79" y="1472184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COUNTER-UAS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1709928"/>
            <a:ext cx="2953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1423"/>
                </a:solidFill>
                <a:latin typeface="Aptos"/>
              </a:rPr>
              <a:t>USD 6-7bn by 2030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1783080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25-30% CAGR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325880"/>
            <a:ext cx="32461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65008" y="1325880"/>
            <a:ext cx="54864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472184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DEFENSE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09928"/>
            <a:ext cx="2953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1423"/>
                </a:solidFill>
                <a:latin typeface="Aptos"/>
              </a:rPr>
              <a:t>USD 8-12bn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783080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20%+ CAGR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404872"/>
            <a:ext cx="32461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2404872"/>
            <a:ext cx="54864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2551176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AESA RADAR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2788920"/>
            <a:ext cx="2953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1423"/>
                </a:solidFill>
                <a:latin typeface="Aptos"/>
              </a:rPr>
              <a:t>USD 5-7bn/yr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862072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7-9% CAGR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1688" y="2404872"/>
            <a:ext cx="32461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61688" y="2404872"/>
            <a:ext cx="54864" cy="841248"/>
          </a:xfrm>
          <a:prstGeom prst="rect">
            <a:avLst/>
          </a:prstGeom>
          <a:solidFill>
            <a:srgbClr val="00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79" y="2551176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MALE UAS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2788920"/>
            <a:ext cx="2953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1423"/>
                </a:solidFill>
                <a:latin typeface="Aptos"/>
              </a:rPr>
              <a:t>USD 4-5bn/yr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2862072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8-10% CAGR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2404872"/>
            <a:ext cx="32461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65008" y="2404872"/>
            <a:ext cx="54864" cy="84124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2551176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AUV / USV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788920"/>
            <a:ext cx="2953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1423"/>
                </a:solidFill>
                <a:latin typeface="Aptos"/>
              </a:rPr>
              <a:t>USD 2.5-3.5bn/yr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862072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12-15% CAGR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39319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61423"/>
                </a:solidFill>
                <a:latin typeface="Aptos"/>
              </a:rPr>
              <a:t>India-specific demand drivers</a:t>
            </a:r>
          </a:p>
        </p:txBody>
      </p:sp>
      <p:sp>
        <p:nvSpPr>
          <p:cNvPr id="39" name="Oval 38"/>
          <p:cNvSpPr/>
          <p:nvPr/>
        </p:nvSpPr>
        <p:spPr>
          <a:xfrm>
            <a:off x="804672" y="4416552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9264" y="4370832"/>
            <a:ext cx="5001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D1723"/>
                </a:solidFill>
                <a:latin typeface="Aptos"/>
              </a:rPr>
              <a:t>Atmanirbhar Bharat biases procurement toward domestic capability.</a:t>
            </a:r>
          </a:p>
        </p:txBody>
      </p:sp>
      <p:sp>
        <p:nvSpPr>
          <p:cNvPr id="41" name="Oval 40"/>
          <p:cNvSpPr/>
          <p:nvPr/>
        </p:nvSpPr>
        <p:spPr>
          <a:xfrm>
            <a:off x="804672" y="4727448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9264" y="4681728"/>
            <a:ext cx="5001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D1723"/>
                </a:solidFill>
                <a:latin typeface="Aptos"/>
              </a:rPr>
              <a:t>Positive indigenisation lists ringfence equipment families for domestic sourcing.</a:t>
            </a:r>
          </a:p>
        </p:txBody>
      </p:sp>
      <p:sp>
        <p:nvSpPr>
          <p:cNvPr id="43" name="Oval 42"/>
          <p:cNvSpPr/>
          <p:nvPr/>
        </p:nvSpPr>
        <p:spPr>
          <a:xfrm>
            <a:off x="804672" y="5038344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9264" y="4992624"/>
            <a:ext cx="5001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D1723"/>
                </a:solidFill>
                <a:latin typeface="Aptos"/>
              </a:rPr>
              <a:t>Rs.50,000 Cr annual defense export target by 2028-29 supports allied-government channels.</a:t>
            </a:r>
          </a:p>
        </p:txBody>
      </p:sp>
      <p:sp>
        <p:nvSpPr>
          <p:cNvPr id="45" name="Oval 44"/>
          <p:cNvSpPr/>
          <p:nvPr/>
        </p:nvSpPr>
        <p:spPr>
          <a:xfrm>
            <a:off x="804672" y="5349240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9264" y="5303520"/>
            <a:ext cx="5001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D1723"/>
                </a:solidFill>
                <a:latin typeface="Aptos"/>
              </a:rPr>
              <a:t>MoD anchor buyer on Day 1; allied exports begin layering from Year 2.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393192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61423"/>
                </a:solidFill>
                <a:latin typeface="Aptos"/>
              </a:rPr>
              <a:t>Structural gap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4343400"/>
            <a:ext cx="45720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20840" y="43891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C290"/>
                </a:solidFill>
                <a:latin typeface="Aptos"/>
              </a:rPr>
              <a:t>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59168" y="4581144"/>
            <a:ext cx="379476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61423"/>
                </a:solidFill>
                <a:latin typeface="Aptos"/>
              </a:rPr>
              <a:t>Mid-tier defense programs are too slow for legacy primes, too integrated for point-product startups - exactly where a platform-native company wins.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Keep market talk short: this is not a TAM lecture. The point is that multiple market waves converge on a platform reuse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C290"/>
                </a:solidFill>
                <a:latin typeface="Aptos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The platform flywheel: five modules feed six verticals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C7D5E1"/>
                </a:solidFill>
                <a:latin typeface="Aptos"/>
              </a:rPr>
              <a:t>The moat is reusable qualified engineering, not a single SKU.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9CACBE"/>
                </a:solidFill>
                <a:latin typeface="Aptos"/>
              </a:rPr>
              <a:t>NITRODYNAMICS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75285"/>
            <a:ext cx="6903720" cy="36045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8120" y="1371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What compounds</a:t>
            </a:r>
          </a:p>
        </p:txBody>
      </p:sp>
      <p:sp>
        <p:nvSpPr>
          <p:cNvPr id="10" name="Oval 9"/>
          <p:cNvSpPr/>
          <p:nvPr/>
        </p:nvSpPr>
        <p:spPr>
          <a:xfrm>
            <a:off x="7845552" y="1856231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0144" y="1810512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DDE8F0"/>
                </a:solidFill>
                <a:latin typeface="Aptos"/>
              </a:rPr>
              <a:t>M1 radio / microwave and M2 signal processing de-risk AESA, EW and C-UAS together.</a:t>
            </a:r>
          </a:p>
        </p:txBody>
      </p:sp>
      <p:sp>
        <p:nvSpPr>
          <p:cNvPr id="12" name="Oval 11"/>
          <p:cNvSpPr/>
          <p:nvPr/>
        </p:nvSpPr>
        <p:spPr>
          <a:xfrm>
            <a:off x="7845552" y="2203703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0144" y="2157984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DDE8F0"/>
                </a:solidFill>
                <a:latin typeface="Aptos"/>
              </a:rPr>
              <a:t>M4 embedded mission software and M5 AI/ML attach to every hardware line.</a:t>
            </a:r>
          </a:p>
        </p:txBody>
      </p:sp>
      <p:sp>
        <p:nvSpPr>
          <p:cNvPr id="14" name="Oval 13"/>
          <p:cNvSpPr/>
          <p:nvPr/>
        </p:nvSpPr>
        <p:spPr>
          <a:xfrm>
            <a:off x="7845552" y="2551175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0144" y="2505456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DDE8F0"/>
                </a:solidFill>
                <a:latin typeface="Aptos"/>
              </a:rPr>
              <a:t>Module reuse rises toward 97-99% by Year 10.</a:t>
            </a:r>
          </a:p>
        </p:txBody>
      </p:sp>
      <p:sp>
        <p:nvSpPr>
          <p:cNvPr id="16" name="Oval 15"/>
          <p:cNvSpPr/>
          <p:nvPr/>
        </p:nvSpPr>
        <p:spPr>
          <a:xfrm>
            <a:off x="7845552" y="2898647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0144" y="2852927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DDE8F0"/>
                </a:solidFill>
                <a:latin typeface="Aptos"/>
              </a:rPr>
              <a:t>Blended gross margin climbs to ~67% by Year 10.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886200"/>
            <a:ext cx="3246120" cy="868680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3886200"/>
            <a:ext cx="54864" cy="868680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82712" y="4032504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10-YEAR PLATFORM INVESTMENT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4270248"/>
            <a:ext cx="2953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"/>
              </a:rPr>
              <a:t>~Rs.575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4370832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Aptos"/>
              </a:rPr>
              <a:t>M1-M5 combined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956048"/>
            <a:ext cx="3246120" cy="868680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18120" y="4956048"/>
            <a:ext cx="54864" cy="8686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82712" y="5102352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NRE AVOIDED BY REUSE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12" y="5340096"/>
            <a:ext cx="2953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"/>
              </a:rPr>
              <a:t>~Rs.994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5440680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Aptos"/>
              </a:rPr>
              <a:t>Counterfactual savings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8D9EB0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8D9EB0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Use the flywheel diagram. Say: every qualified block becomes an asset multiple product lines can draw from.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61423"/>
                </a:solidFill>
                <a:latin typeface="Aptos"/>
              </a:rPr>
              <a:t>Day-1 traction: a funded cash engine, not a promise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The ESM/SIGINT line starts with production-order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0175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54864" cy="1234440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472184"/>
            <a:ext cx="2724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OPENING ORDER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09928"/>
            <a:ext cx="27249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61423"/>
                </a:solidFill>
                <a:latin typeface="Aptos"/>
              </a:rPr>
              <a:t>Rs.105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176272"/>
            <a:ext cx="2724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Phase 1: 5 systems x Rs.21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1325880"/>
            <a:ext cx="30175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77639" y="1325880"/>
            <a:ext cx="54864" cy="12344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42231" y="1472184"/>
            <a:ext cx="2724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FIRM ESM MOQ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1" y="1709928"/>
            <a:ext cx="27249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61423"/>
                </a:solidFill>
                <a:latin typeface="Aptos"/>
              </a:rPr>
              <a:t>Rs.210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1" y="2176272"/>
            <a:ext cx="2724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10 systems in two 12-month phases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325880"/>
            <a:ext cx="30175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69480" y="132588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34072" y="1472184"/>
            <a:ext cx="2724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TECHNICAL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1709928"/>
            <a:ext cx="27249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61423"/>
                </a:solidFill>
                <a:latin typeface="Aptos"/>
              </a:rPr>
              <a:t>4 milestones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2176272"/>
            <a:ext cx="2724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Development signed off; FOPM in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081528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Commitment ladder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03320"/>
            <a:ext cx="123444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3858768"/>
            <a:ext cx="10972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61423"/>
                </a:solidFill>
                <a:latin typeface="Aptos"/>
              </a:rPr>
              <a:t>Forecast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057400" y="4023359"/>
            <a:ext cx="201168" cy="0"/>
          </a:xfrm>
          <a:prstGeom prst="line">
            <a:avLst/>
          </a:prstGeom>
          <a:ln w="19050">
            <a:solidFill>
              <a:srgbClr val="7A8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331720" y="3703320"/>
            <a:ext cx="123444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95727" y="3858768"/>
            <a:ext cx="10972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61423"/>
                </a:solidFill>
                <a:latin typeface="Aptos"/>
              </a:rPr>
              <a:t>LOI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11879" y="4023359"/>
            <a:ext cx="18289" cy="0"/>
          </a:xfrm>
          <a:prstGeom prst="line">
            <a:avLst/>
          </a:prstGeom>
          <a:ln w="19050">
            <a:solidFill>
              <a:srgbClr val="7A8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703320" y="3703320"/>
            <a:ext cx="1920240" cy="640080"/>
          </a:xfrm>
          <a:prstGeom prst="roundRect">
            <a:avLst/>
          </a:prstGeom>
          <a:solidFill>
            <a:srgbClr val="00C290"/>
          </a:solidFill>
          <a:ln w="10160">
            <a:solidFill>
              <a:srgbClr val="B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67328" y="3858768"/>
            <a:ext cx="17830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iDEX MoQ
production order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0" y="4023359"/>
            <a:ext cx="749808" cy="0"/>
          </a:xfrm>
          <a:prstGeom prst="line">
            <a:avLst/>
          </a:prstGeom>
          <a:ln w="19050">
            <a:solidFill>
              <a:srgbClr val="7A8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92240" y="3703320"/>
            <a:ext cx="123444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56248" y="3858768"/>
            <a:ext cx="10972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61423"/>
                </a:solidFill>
                <a:latin typeface="Aptos"/>
              </a:rPr>
              <a:t>Series
contract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443484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8B6F"/>
                </a:solidFill>
                <a:latin typeface="Aptos"/>
              </a:rPr>
              <a:t>We are 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0815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Why it matters</a:t>
            </a:r>
          </a:p>
        </p:txBody>
      </p:sp>
      <p:sp>
        <p:nvSpPr>
          <p:cNvPr id="37" name="Oval 36"/>
          <p:cNvSpPr/>
          <p:nvPr/>
        </p:nvSpPr>
        <p:spPr>
          <a:xfrm>
            <a:off x="7863840" y="3575303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28431" y="3529584"/>
            <a:ext cx="30815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>
                <a:solidFill>
                  <a:srgbClr val="0D1723"/>
                </a:solidFill>
                <a:latin typeface="Aptos"/>
              </a:rPr>
              <a:t>Turns Year 1 into a revenue + gross-profit year.</a:t>
            </a:r>
          </a:p>
        </p:txBody>
      </p:sp>
      <p:sp>
        <p:nvSpPr>
          <p:cNvPr id="39" name="Oval 38"/>
          <p:cNvSpPr/>
          <p:nvPr/>
        </p:nvSpPr>
        <p:spPr>
          <a:xfrm>
            <a:off x="7863840" y="3931920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28431" y="3886200"/>
            <a:ext cx="30815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>
                <a:solidFill>
                  <a:srgbClr val="0D1723"/>
                </a:solidFill>
                <a:latin typeface="Aptos"/>
              </a:rPr>
              <a:t>Funds M1-M5 industrialisation in parallel.</a:t>
            </a:r>
          </a:p>
        </p:txBody>
      </p:sp>
      <p:sp>
        <p:nvSpPr>
          <p:cNvPr id="41" name="Oval 40"/>
          <p:cNvSpPr/>
          <p:nvPr/>
        </p:nvSpPr>
        <p:spPr>
          <a:xfrm>
            <a:off x="7863840" y="4288536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28431" y="4242816"/>
            <a:ext cx="30815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0" i="0">
                <a:solidFill>
                  <a:srgbClr val="0D1723"/>
                </a:solidFill>
                <a:latin typeface="Aptos"/>
              </a:rPr>
              <a:t>Explains why equity rounds step down, not up.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" y="5440680"/>
            <a:ext cx="1046988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7" y="54864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C290"/>
                </a:solidFill>
                <a:latin typeface="Aptos"/>
              </a:rPr>
              <a:t>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6736" y="5678424"/>
            <a:ext cx="969264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61423"/>
                </a:solidFill>
                <a:latin typeface="Aptos"/>
              </a:rPr>
              <a:t>Live risk: Phase-1 to Phase-2 / series conversion timing; tracked against Series B sizing.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Do not oversell. This is above forecast/LOI and is production-order revenue, but conversion timing remains a named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61423"/>
                </a:solidFill>
                <a:latin typeface="Aptos"/>
              </a:rPr>
              <a:t>Six product lines, one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A staged portfolio across air, land, sea and cyber/AI.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5806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Code</a:t>
                      </a:r>
                    </a:p>
                  </a:txBody>
                  <a:tcPr marL="63500" marR="63500" marT="38100" marB="38100">
                    <a:solidFill>
                      <a:srgbClr val="06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 marL="63500" marR="63500" marT="38100" marB="38100">
                    <a:solidFill>
                      <a:srgbClr val="06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First ship</a:t>
                      </a:r>
                    </a:p>
                  </a:txBody>
                  <a:tcPr marL="63500" marR="63500" marT="38100" marB="38100">
                    <a:solidFill>
                      <a:srgbClr val="06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Strategic role</a:t>
                      </a:r>
                    </a:p>
                  </a:txBody>
                  <a:tcPr marL="63500" marR="63500" marT="38100" marB="38100">
                    <a:solidFill>
                      <a:srgbClr val="06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V2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EW / SIGINT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Y1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Day-1 cash engine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V6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Military AI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Y1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93-94% GM software attach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V1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AESA Radar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Y2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RF/DSP hardware flagship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V3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Counter-UAS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Y2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Highest unit volume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V5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AUV / USV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Y3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Maritime autonomy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V4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MALE UAS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Y4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0D1723"/>
                          </a:solidFill>
                          <a:latin typeface="Aptos"/>
                        </a:rPr>
                        <a:t>Highest unit price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12280" y="126187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Launch wave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691640"/>
            <a:ext cx="40690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12280" y="1691640"/>
            <a:ext cx="73152" cy="530352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179222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C290"/>
                </a:solidFill>
                <a:latin typeface="Aptos"/>
              </a:rPr>
              <a:t>Year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792224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 i="0">
                <a:solidFill>
                  <a:srgbClr val="061423"/>
                </a:solidFill>
                <a:latin typeface="Aptos"/>
              </a:rPr>
              <a:t>V2 ESM + V6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441448"/>
            <a:ext cx="40690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2280" y="2441448"/>
            <a:ext cx="73152" cy="5303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254203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A8E8"/>
                </a:solidFill>
                <a:latin typeface="Aptos"/>
              </a:rPr>
              <a:t>Year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542032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 i="0">
                <a:solidFill>
                  <a:srgbClr val="061423"/>
                </a:solidFill>
                <a:latin typeface="Aptos"/>
              </a:rPr>
              <a:t>V1 AESA + V3 C-UAS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3191256"/>
            <a:ext cx="40690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12280" y="3191256"/>
            <a:ext cx="73152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5160" y="329184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Aptos"/>
              </a:rPr>
              <a:t>Year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291840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 i="0">
                <a:solidFill>
                  <a:srgbClr val="061423"/>
                </a:solidFill>
                <a:latin typeface="Aptos"/>
              </a:rPr>
              <a:t>V5 AUV / USV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3941064"/>
            <a:ext cx="40690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12280" y="3941064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60" y="404164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Aptos"/>
              </a:rPr>
              <a:t>Year 4+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0416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 i="0">
                <a:solidFill>
                  <a:srgbClr val="061423"/>
                </a:solidFill>
                <a:latin typeface="Aptos"/>
              </a:rPr>
              <a:t>V4 MALE UAS + exports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4892040"/>
            <a:ext cx="40690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0" y="4937759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C290"/>
                </a:solidFill>
                <a:latin typeface="Aptos"/>
              </a:rPr>
              <a:t>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208" y="5129783"/>
            <a:ext cx="329184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61423"/>
                </a:solidFill>
                <a:latin typeface="Aptos"/>
              </a:rPr>
              <a:t>The portfolio is sequenced so early ESM + AI cash de-risks longer-cycle AESA, maritime autonomy and MALE UAS.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Avoid reading every row. The story is sequencing: short-cycle ESM/AI first, heavy programs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C290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10-year roadmap: staged risk, staged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C7D5E1"/>
                </a:solidFill>
                <a:latin typeface="Aptos"/>
              </a:rPr>
              <a:t>Qualification and production gates are intentionally sequenced.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9CACBE"/>
                </a:solidFill>
                <a:latin typeface="Aptos"/>
              </a:rPr>
              <a:t>NITRODYNAMICS</a:t>
            </a:r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77270"/>
            <a:ext cx="6583680" cy="330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325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Funding gates are dual-gated</a:t>
            </a:r>
          </a:p>
        </p:txBody>
      </p:sp>
      <p:sp>
        <p:nvSpPr>
          <p:cNvPr id="10" name="Oval 9"/>
          <p:cNvSpPr/>
          <p:nvPr/>
        </p:nvSpPr>
        <p:spPr>
          <a:xfrm>
            <a:off x="7662672" y="1828800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27264" y="1783080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DDE8F0"/>
                </a:solidFill>
                <a:latin typeface="Aptos"/>
              </a:rPr>
              <a:t>Every round requires both platform maturity and contracted backlog.</a:t>
            </a:r>
          </a:p>
        </p:txBody>
      </p:sp>
      <p:sp>
        <p:nvSpPr>
          <p:cNvPr id="12" name="Oval 11"/>
          <p:cNvSpPr/>
          <p:nvPr/>
        </p:nvSpPr>
        <p:spPr>
          <a:xfrm>
            <a:off x="7662672" y="2157984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7264" y="2112264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DDE8F0"/>
                </a:solidFill>
                <a:latin typeface="Aptos"/>
              </a:rPr>
              <a:t>Seed unlocks M1/M2/M4, ESM MVP and V6 first ship.</a:t>
            </a:r>
          </a:p>
        </p:txBody>
      </p:sp>
      <p:sp>
        <p:nvSpPr>
          <p:cNvPr id="14" name="Oval 13"/>
          <p:cNvSpPr/>
          <p:nvPr/>
        </p:nvSpPr>
        <p:spPr>
          <a:xfrm>
            <a:off x="7662672" y="2487168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27264" y="2441448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DDE8F0"/>
                </a:solidFill>
                <a:latin typeface="Aptos"/>
              </a:rPr>
              <a:t>Series A unlocks productised platform + Wave 2 contracts.</a:t>
            </a:r>
          </a:p>
        </p:txBody>
      </p:sp>
      <p:sp>
        <p:nvSpPr>
          <p:cNvPr id="16" name="Oval 15"/>
          <p:cNvSpPr/>
          <p:nvPr/>
        </p:nvSpPr>
        <p:spPr>
          <a:xfrm>
            <a:off x="7662672" y="2816351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7264" y="2770632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DDE8F0"/>
                </a:solidFill>
                <a:latin typeface="Aptos"/>
              </a:rPr>
              <a:t>Series B bridges to FCF-positive in Year 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886200"/>
            <a:ext cx="3182112" cy="786384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3886200"/>
            <a:ext cx="54864" cy="786384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99831" y="4032504"/>
            <a:ext cx="28895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FIRST POSITIVE EBITDA / FCF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4270248"/>
            <a:ext cx="288950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Year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4288536"/>
            <a:ext cx="2889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Aptos"/>
              </a:rPr>
              <a:t>Post Wave-4 ramp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4846320"/>
            <a:ext cx="3182112" cy="786384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35240" y="4846320"/>
            <a:ext cx="54864" cy="78638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99831" y="4992624"/>
            <a:ext cx="28895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PEAK DEBT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1" y="5230368"/>
            <a:ext cx="288950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Rs.200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1" y="5248656"/>
            <a:ext cx="2889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Aptos"/>
              </a:rPr>
              <a:t>Repaid by Year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8D9EB0"/>
                </a:solidFill>
                <a:latin typeface="Aptos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8D9EB0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Emphasize disciplined sequencing, not 'we will build everything at once.'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61423"/>
                </a:solidFill>
                <a:latin typeface="Aptos"/>
              </a:rPr>
              <a:t>Competitive position: faster than primes, deeper than specialists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The wedge is the mispriced mid-tier programme segment.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8" y="1234440"/>
            <a:ext cx="6495724" cy="3429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234440"/>
            <a:ext cx="6583680" cy="3429000"/>
          </a:xfrm>
          <a:prstGeom prst="rect">
            <a:avLst/>
          </a:prstGeom>
          <a:noFill/>
          <a:ln w="10160">
            <a:solidFill>
              <a:srgbClr val="B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129844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What the heatmap is saying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1746504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54112" y="1700784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0D1723"/>
                </a:solidFill>
                <a:latin typeface="Aptos"/>
              </a:rPr>
              <a:t>Tier-1 primes have breadth but slower fielding cycles.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2075688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54112" y="2029968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0D1723"/>
                </a:solidFill>
                <a:latin typeface="Aptos"/>
              </a:rPr>
              <a:t>Pure-plays have speed but weaker cross-domain integration.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2404872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54112" y="2359152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0D1723"/>
                </a:solidFill>
                <a:latin typeface="Aptos"/>
              </a:rPr>
              <a:t>Nitrodynamics aims to combine breadth, IP ownership and platform reuse.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0" y="2734056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54112" y="2688336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0D1723"/>
                </a:solidFill>
                <a:latin typeface="Aptos"/>
              </a:rPr>
              <a:t>Cross-domain coverage increases customer expansion paths.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66360"/>
            <a:ext cx="1056132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C290"/>
                </a:solidFill>
                <a:latin typeface="Aptos"/>
              </a:rPr>
              <a:t>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5404104"/>
            <a:ext cx="9784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61423"/>
                </a:solidFill>
                <a:latin typeface="Aptos"/>
              </a:rPr>
              <a:t>Legacy primes sell programs. Point startups sell products. Nitrodynamics sells a reusable platform that keeps spawning programs.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Use this slide to position against categories, not to attack named competitors.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FINANCIALS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61423"/>
                </a:solidFill>
                <a:latin typeface="Aptos"/>
              </a:rPr>
              <a:t>Revenue build: from Rs.53 Cr to Rs.5,055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All six product lines ship concurrently by Year 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234440"/>
          <a:ext cx="67208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1033271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A8B9A"/>
                </a:solidFill>
                <a:latin typeface="Aptos"/>
              </a:rPr>
              <a:t>Revenue (Rs.Cr)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18872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Y10 product mix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700784"/>
            <a:ext cx="1717481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38360" y="162763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61423"/>
                </a:solidFill>
                <a:latin typeface="Aptos"/>
              </a:rPr>
              <a:t>V1 AESA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162763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80" b="0" i="0">
                <a:solidFill>
                  <a:srgbClr val="7A8B9A"/>
                </a:solidFill>
                <a:latin typeface="Aptos"/>
              </a:rPr>
              <a:t>1,080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2203704"/>
            <a:ext cx="1351721" cy="164592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38360" y="213055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61423"/>
                </a:solidFill>
                <a:latin typeface="Aptos"/>
              </a:rPr>
              <a:t>V2 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21305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80" b="0" i="0">
                <a:solidFill>
                  <a:srgbClr val="7A8B9A"/>
                </a:solidFill>
                <a:latin typeface="Aptos"/>
              </a:rPr>
              <a:t>850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2706624"/>
            <a:ext cx="1828800" cy="1645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263347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61423"/>
                </a:solidFill>
                <a:latin typeface="Aptos"/>
              </a:rPr>
              <a:t>V3 C-UAS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26334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80" b="0" i="0">
                <a:solidFill>
                  <a:srgbClr val="7A8B9A"/>
                </a:solidFill>
                <a:latin typeface="Aptos"/>
              </a:rPr>
              <a:t>1,150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209544"/>
            <a:ext cx="1431234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38360" y="313639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61423"/>
                </a:solidFill>
                <a:latin typeface="Aptos"/>
              </a:rPr>
              <a:t>V4 MALE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31363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80" b="0" i="0">
                <a:solidFill>
                  <a:srgbClr val="7A8B9A"/>
                </a:solidFill>
                <a:latin typeface="Aptos"/>
              </a:rPr>
              <a:t>900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3712464"/>
            <a:ext cx="914400" cy="164592"/>
          </a:xfrm>
          <a:prstGeom prst="rect">
            <a:avLst/>
          </a:prstGeom>
          <a:solidFill>
            <a:srgbClr val="00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38360" y="36393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61423"/>
                </a:solidFill>
                <a:latin typeface="Aptos"/>
              </a:rPr>
              <a:t>V5 AUV/USV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363931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80" b="0" i="0">
                <a:solidFill>
                  <a:srgbClr val="7A8B9A"/>
                </a:solidFill>
                <a:latin typeface="Aptos"/>
              </a:rPr>
              <a:t>575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4215384"/>
            <a:ext cx="795130" cy="164592"/>
          </a:xfrm>
          <a:prstGeom prst="rect">
            <a:avLst/>
          </a:prstGeom>
          <a:solidFill>
            <a:srgbClr val="78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38360" y="414223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61423"/>
                </a:solidFill>
                <a:latin typeface="Aptos"/>
              </a:rPr>
              <a:t>V6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414223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80" b="0" i="0">
                <a:solidFill>
                  <a:srgbClr val="7A8B9A"/>
                </a:solidFill>
                <a:latin typeface="Aptos"/>
              </a:rPr>
              <a:t>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1389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Rs.Cr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57800"/>
            <a:ext cx="1056132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3035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C290"/>
                </a:solidFill>
                <a:latin typeface="Aptos"/>
              </a:rPr>
              <a:t>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8" y="5495544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61423"/>
                </a:solidFill>
                <a:latin typeface="Aptos"/>
              </a:rPr>
              <a:t>Closing backlog reaches Rs.16,680 Cr by Year 10 - more than 3.3x forward revenue cover.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This is the growth slide. Anchor the scale: Y10 Rs.5,055 Cr with backlog cover.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61423"/>
                </a:solidFill>
                <a:latin typeface="Aptos"/>
              </a:rPr>
              <a:t>Margin engine: reuse converts engineering into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Hardware learning + platform reuse + software mix drive the gross-margin bridge.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234440"/>
          <a:ext cx="54864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10241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A8B9A"/>
                </a:solidFill>
                <a:latin typeface="Aptos"/>
              </a:rPr>
              <a:t>Blended gross margin trajectory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325880"/>
            <a:ext cx="187451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75120" y="1325880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39712" y="1472184"/>
            <a:ext cx="158191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Y1 GM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1709928"/>
            <a:ext cx="158191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61423"/>
                </a:solidFill>
                <a:latin typeface="Aptos"/>
              </a:rPr>
              <a:t>~51%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901952"/>
            <a:ext cx="158191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base year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25880"/>
            <a:ext cx="187451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23960" y="1325880"/>
            <a:ext cx="54864" cy="960120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8552" y="1472184"/>
            <a:ext cx="158191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Y10 GM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1709928"/>
            <a:ext cx="158191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61423"/>
                </a:solidFill>
                <a:latin typeface="Aptos"/>
              </a:rPr>
              <a:t>~67%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1901952"/>
            <a:ext cx="158191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reuse maturity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2578608"/>
            <a:ext cx="187451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75120" y="2578608"/>
            <a:ext cx="54864" cy="9601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9712" y="2724912"/>
            <a:ext cx="158191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Y10 EBITDA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2962656"/>
            <a:ext cx="158191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61423"/>
                </a:solidFill>
                <a:latin typeface="Aptos"/>
              </a:rPr>
              <a:t>Rs.2,347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154680"/>
            <a:ext cx="158191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46.4% margin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2578608"/>
            <a:ext cx="187451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23960" y="2578608"/>
            <a:ext cx="54864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88552" y="2724912"/>
            <a:ext cx="158191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V6 AI GM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2962656"/>
            <a:ext cx="158191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061423"/>
                </a:solidFill>
                <a:latin typeface="Aptos"/>
              </a:rPr>
              <a:t>93-94%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552" y="3154680"/>
            <a:ext cx="158191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software attach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70916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Three margin levers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" y="5148072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9264" y="5102352"/>
            <a:ext cx="5870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0D1723"/>
                </a:solidFill>
                <a:latin typeface="Aptos"/>
              </a:rPr>
              <a:t>Wright's-law learning lowers hardware BoM as production doubles.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" y="5458968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9264" y="5413248"/>
            <a:ext cx="5870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0D1723"/>
                </a:solidFill>
                <a:latin typeface="Aptos"/>
              </a:rPr>
              <a:t>Qualified platform blocks reduce duplicated NRE and integration cost.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5769864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9264" y="5724144"/>
            <a:ext cx="5870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 i="0">
                <a:solidFill>
                  <a:srgbClr val="0D1723"/>
                </a:solidFill>
                <a:latin typeface="Aptos"/>
              </a:rPr>
              <a:t>Military AI software grows as an attach layer across hardware sales.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Use 'engineering into economics' as the soundbite. The 46.4% EBITDA margin is the payoff.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C290"/>
                </a:solidFill>
                <a:latin typeface="Aptos"/>
              </a:rPr>
              <a:t>CASH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Cash flow turns in Year 4, then compounds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C7D5E1"/>
                </a:solidFill>
                <a:latin typeface="Aptos"/>
              </a:rPr>
              <a:t>The trough is funded by staged equity and modest debt.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9CACBE"/>
                </a:solidFill>
                <a:latin typeface="Aptos"/>
              </a:rPr>
              <a:t>NITRODYNAMICS</a:t>
            </a:r>
          </a:p>
        </p:txBody>
      </p:sp>
      <p:pic>
        <p:nvPicPr>
          <p:cNvPr id="8" name="Picture 7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3206"/>
            <a:ext cx="5394960" cy="27028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124358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AE5EE"/>
                </a:solidFill>
                <a:latin typeface="Aptos"/>
              </a:rPr>
              <a:t>Annual FCF (Rs.Cr)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520440"/>
            <a:ext cx="256032" cy="36411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37307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C9D5E1"/>
                </a:solidFill>
                <a:latin typeface="Aptos"/>
              </a:rPr>
              <a:t>Y1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9712" y="3520440"/>
            <a:ext cx="256032" cy="46670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21424" y="37307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C9D5E1"/>
                </a:solidFill>
                <a:latin typeface="Aptos"/>
              </a:rPr>
              <a:t>Y2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8624" y="3520440"/>
            <a:ext cx="256032" cy="39428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0336" y="37307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C9D5E1"/>
                </a:solidFill>
                <a:latin typeface="Aptos"/>
              </a:rPr>
              <a:t>Y3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7536" y="3440572"/>
            <a:ext cx="256032" cy="79867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9248" y="37307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C9D5E1"/>
                </a:solidFill>
                <a:latin typeface="Aptos"/>
              </a:rPr>
              <a:t>Y4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3228003"/>
            <a:ext cx="256032" cy="292436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37307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C9D5E1"/>
                </a:solidFill>
                <a:latin typeface="Aptos"/>
              </a:rPr>
              <a:t>Y5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2882731"/>
            <a:ext cx="256032" cy="637708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77072" y="37307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C9D5E1"/>
                </a:solidFill>
                <a:latin typeface="Aptos"/>
              </a:rPr>
              <a:t>Y6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4272" y="2570635"/>
            <a:ext cx="256032" cy="949804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15984" y="37307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C9D5E1"/>
                </a:solidFill>
                <a:latin typeface="Aptos"/>
              </a:rPr>
              <a:t>Y7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3184" y="2216762"/>
            <a:ext cx="256032" cy="1303677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54896" y="37307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C9D5E1"/>
                </a:solidFill>
                <a:latin typeface="Aptos"/>
              </a:rPr>
              <a:t>Y8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12096" y="1888693"/>
            <a:ext cx="256032" cy="1631746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93808" y="37307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C9D5E1"/>
                </a:solidFill>
                <a:latin typeface="Aptos"/>
              </a:rPr>
              <a:t>Y9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51008" y="1617144"/>
            <a:ext cx="256032" cy="1903295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32720" y="37307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C9D5E1"/>
                </a:solidFill>
                <a:latin typeface="Aptos"/>
              </a:rPr>
              <a:t>Y10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55080" y="3520440"/>
            <a:ext cx="4526280" cy="0"/>
          </a:xfrm>
          <a:prstGeom prst="line">
            <a:avLst/>
          </a:prstGeom>
          <a:ln w="12700">
            <a:solidFill>
              <a:srgbClr val="6B7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46520" y="4590288"/>
            <a:ext cx="1965960" cy="786384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46520" y="4590288"/>
            <a:ext cx="54864" cy="786384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11112" y="4736592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10-YEAR CUMULATIVE FCF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4974336"/>
            <a:ext cx="16733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ptos"/>
              </a:rPr>
              <a:t>Rs.4,803 Cr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32520" y="4590288"/>
            <a:ext cx="1965960" cy="786384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32520" y="4590288"/>
            <a:ext cx="54864" cy="78638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97112" y="4736592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FCF POSITIVE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7112" y="4974336"/>
            <a:ext cx="16733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ptos"/>
              </a:rPr>
              <a:t>Year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8D9EB0"/>
                </a:solidFill>
                <a:latin typeface="Aptos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8D9EB0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Be crisp: cash is negative through Y3, turns in Y4, then funds scale and debt repayment.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61423"/>
                </a:solidFill>
                <a:latin typeface="Aptos"/>
              </a:rPr>
              <a:t>Funding ask: Rs.1,100 Cr staged equity, led by Seed Rs.450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Capital is milestone-gated to platform maturity and contracted backlog.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307592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" y="1307592"/>
            <a:ext cx="54864" cy="1261872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453895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SEED (Y1)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691639"/>
            <a:ext cx="2953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61423"/>
                </a:solidFill>
                <a:latin typeface="Aptos"/>
              </a:rPr>
              <a:t>Rs.450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85415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M1-M5 platform; ESM industrialisation; first production 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307592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4" y="1307592"/>
            <a:ext cx="54864" cy="126187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5" y="1453895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SERIES A (Y2)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1691639"/>
            <a:ext cx="2953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61423"/>
                </a:solidFill>
                <a:latin typeface="Aptos"/>
              </a:rPr>
              <a:t>Rs.400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185415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ESM/C-UAS/AI scale-up; AESA prototype; EMI/anechoic facility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307592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1583" y="1307592"/>
            <a:ext cx="54864" cy="12618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5" y="1453895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SERIES B (Y3)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1691639"/>
            <a:ext cx="29535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61423"/>
                </a:solidFill>
                <a:latin typeface="Aptos"/>
              </a:rPr>
              <a:t>Rs.250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185415"/>
            <a:ext cx="2953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AESA, MALE and autonomy first deliveries; bridge to FCF-positive Y4</a:t>
            </a:r>
          </a:p>
        </p:txBody>
      </p:sp>
      <p:pic>
        <p:nvPicPr>
          <p:cNvPr id="23" name="Picture 22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588" y="2971800"/>
            <a:ext cx="3959104" cy="23774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85800" y="2971800"/>
            <a:ext cx="5440680" cy="2377440"/>
          </a:xfrm>
          <a:prstGeom prst="rect">
            <a:avLst/>
          </a:prstGeom>
          <a:noFill/>
          <a:ln w="10160">
            <a:solidFill>
              <a:srgbClr val="B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99923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Use-of-proceeds logic</a:t>
            </a:r>
          </a:p>
        </p:txBody>
      </p:sp>
      <p:sp>
        <p:nvSpPr>
          <p:cNvPr id="26" name="Oval 25"/>
          <p:cNvSpPr/>
          <p:nvPr/>
        </p:nvSpPr>
        <p:spPr>
          <a:xfrm>
            <a:off x="6629400" y="3474720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93992" y="3429000"/>
            <a:ext cx="3995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D1723"/>
                </a:solidFill>
                <a:latin typeface="Aptos"/>
              </a:rPr>
              <a:t>Seed is the lead ask: Rs.450 Cr.</a:t>
            </a:r>
          </a:p>
        </p:txBody>
      </p:sp>
      <p:sp>
        <p:nvSpPr>
          <p:cNvPr id="28" name="Oval 27"/>
          <p:cNvSpPr/>
          <p:nvPr/>
        </p:nvSpPr>
        <p:spPr>
          <a:xfrm>
            <a:off x="6629400" y="3803904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93992" y="3758184"/>
            <a:ext cx="3995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D1723"/>
                </a:solidFill>
                <a:latin typeface="Aptos"/>
              </a:rPr>
              <a:t>Equity rounds step down as ESM and platform reuse de-risk the next wave.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0" y="4133088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93992" y="4087368"/>
            <a:ext cx="3995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D1723"/>
                </a:solidFill>
                <a:latin typeface="Aptos"/>
              </a:rPr>
              <a:t>Peak debt Rs.200 Cr; fully repaid by Year 9.</a:t>
            </a:r>
          </a:p>
        </p:txBody>
      </p:sp>
      <p:sp>
        <p:nvSpPr>
          <p:cNvPr id="32" name="Oval 31"/>
          <p:cNvSpPr/>
          <p:nvPr/>
        </p:nvSpPr>
        <p:spPr>
          <a:xfrm>
            <a:off x="6629400" y="4462272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93992" y="4416552"/>
            <a:ext cx="3995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D1723"/>
                </a:solidFill>
                <a:latin typeface="Aptos"/>
              </a:rPr>
              <a:t>Pre-money valuations are illustrative unless separately confirmed.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Important caution: valuations in the business plan are analyst illustrations, not founder-confirmed. Keep ask focused on round sizes and gates.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INVESTOR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61423"/>
                </a:solidFill>
                <a:latin typeface="Aptos"/>
              </a:rPr>
              <a:t>Returns: venture-scale upside from defense-prime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Base case clears high-growth return thresholds before terminal optionality.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54864" cy="1143000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472184"/>
            <a:ext cx="2039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PROJECT IRR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09928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61423"/>
                </a:solidFill>
                <a:latin typeface="Aptos"/>
              </a:rPr>
              <a:t>31.9%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2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10-year FCF basis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32588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325880"/>
            <a:ext cx="54864" cy="1143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0712" y="1472184"/>
            <a:ext cx="2039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NPV @ 18% WACC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1709928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61423"/>
                </a:solidFill>
                <a:latin typeface="Aptos"/>
              </a:rPr>
              <a:t>Rs.747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084832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base FCF NPV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32588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6440" y="132588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71031" y="1472184"/>
            <a:ext cx="2039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Y10 EV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1709928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061423"/>
                </a:solidFill>
                <a:latin typeface="Aptos"/>
              </a:rPr>
              <a:t>Rs.20k-35k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2084832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triangulated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132588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66760" y="1325880"/>
            <a:ext cx="54864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31352" y="1472184"/>
            <a:ext cx="2039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SEED Y9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1709928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61423"/>
                </a:solidFill>
                <a:latin typeface="Aptos"/>
              </a:rPr>
              <a:t>10.6x MoIC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2084832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illustrative exit case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85800" y="2971800"/>
          <a:ext cx="62179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Round</a:t>
                      </a:r>
                    </a:p>
                  </a:txBody>
                  <a:tcPr marL="63500" marR="63500" marT="38100" marB="38100">
                    <a:solidFill>
                      <a:srgbClr val="06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Post-B stake</a:t>
                      </a:r>
                    </a:p>
                  </a:txBody>
                  <a:tcPr marL="63500" marR="63500" marT="38100" marB="38100">
                    <a:solidFill>
                      <a:srgbClr val="06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Y7 exit</a:t>
                      </a:r>
                    </a:p>
                  </a:txBody>
                  <a:tcPr marL="63500" marR="63500" marT="38100" marB="38100">
                    <a:solidFill>
                      <a:srgbClr val="06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Y9 exit</a:t>
                      </a:r>
                    </a:p>
                  </a:txBody>
                  <a:tcPr marL="63500" marR="63500" marT="38100" marB="38100">
                    <a:solidFill>
                      <a:srgbClr val="06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Y11 exit</a:t>
                      </a:r>
                    </a:p>
                  </a:txBody>
                  <a:tcPr marL="63500" marR="63500" marT="38100" marB="38100">
                    <a:solidFill>
                      <a:srgbClr val="06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Seed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17.8%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6.2x / 30% IRR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10.6x / 33%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15.8x / 30%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Series A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7.9%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3.1x / 25%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5.3x / 28%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7.9x / 25%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Series B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3.0%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1.9x / 17%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3.2x / 22%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D1723"/>
                          </a:solidFill>
                          <a:latin typeface="Aptos"/>
                        </a:rPr>
                        <a:t>4.8x / 22%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406640" y="29718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Y10 terminal framing</a:t>
            </a:r>
          </a:p>
        </p:txBody>
      </p:sp>
      <p:sp>
        <p:nvSpPr>
          <p:cNvPr id="30" name="Oval 29"/>
          <p:cNvSpPr/>
          <p:nvPr/>
        </p:nvSpPr>
        <p:spPr>
          <a:xfrm>
            <a:off x="7452360" y="3447288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16952" y="3401568"/>
            <a:ext cx="35844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0D1723"/>
                </a:solidFill>
                <a:latin typeface="Aptos"/>
              </a:rPr>
              <a:t>EV/EBITDA 15x midpoint: Rs.35,205 Cr.</a:t>
            </a:r>
          </a:p>
        </p:txBody>
      </p:sp>
      <p:sp>
        <p:nvSpPr>
          <p:cNvPr id="32" name="Oval 31"/>
          <p:cNvSpPr/>
          <p:nvPr/>
        </p:nvSpPr>
        <p:spPr>
          <a:xfrm>
            <a:off x="7452360" y="3776472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16952" y="3730752"/>
            <a:ext cx="35844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0D1723"/>
                </a:solidFill>
                <a:latin typeface="Aptos"/>
              </a:rPr>
              <a:t>EV/Revenue 4.5x midpoint: Rs.22,748 Cr.</a:t>
            </a:r>
          </a:p>
        </p:txBody>
      </p:sp>
      <p:sp>
        <p:nvSpPr>
          <p:cNvPr id="34" name="Oval 33"/>
          <p:cNvSpPr/>
          <p:nvPr/>
        </p:nvSpPr>
        <p:spPr>
          <a:xfrm>
            <a:off x="7452360" y="4105656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16952" y="4059936"/>
            <a:ext cx="358444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0D1723"/>
                </a:solidFill>
                <a:latin typeface="Aptos"/>
              </a:rPr>
              <a:t>Triangulated range: ~Rs.20,000-35,000 Cr.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596128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1">
                <a:solidFill>
                  <a:srgbClr val="7A8B9A"/>
                </a:solidFill>
                <a:latin typeface="Aptos"/>
              </a:rPr>
              <a:t>Note: exit cases and pre-money values are scenario illustrations, not confirmed financing terms.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Keep 'illustrative' language. Do not present valuation as a committed round term.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C290"/>
                </a:solidFill>
                <a:latin typeface="Aptos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Sensitivity: the risk map is known and manageable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C7D5E1"/>
                </a:solidFill>
                <a:latin typeface="Aptos"/>
              </a:rPr>
              <a:t>The biggest variables are working capital, BoM learning and customer advances.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9CACBE"/>
                </a:solidFill>
                <a:latin typeface="Aptos"/>
              </a:rPr>
              <a:t>NITRODYNAMICS</a:t>
            </a:r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4" y="1188720"/>
            <a:ext cx="5805532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95160" y="126187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Top named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91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C290"/>
                </a:solidFill>
                <a:latin typeface="Aptos"/>
              </a:rPr>
              <a:t>MoD concentration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2024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DAE5EE"/>
                </a:solidFill>
                <a:latin typeface="Aptos"/>
              </a:rPr>
              <a:t>Mitigated by six-product diversification + allied export pipeline.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404872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C290"/>
                </a:solidFill>
                <a:latin typeface="Aptos"/>
              </a:rPr>
              <a:t>Long DSO / BG cash trap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63347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DAE5EE"/>
                </a:solidFill>
                <a:latin typeface="Aptos"/>
              </a:rPr>
              <a:t>Modelled with customer advances, WC bridge and collateral schedule.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118104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C290"/>
                </a:solidFill>
                <a:latin typeface="Aptos"/>
              </a:rPr>
              <a:t>Hardware qualification slips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46704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DAE5EE"/>
                </a:solidFill>
                <a:latin typeface="Aptos"/>
              </a:rPr>
              <a:t>Dedicated certification team, partner labs, MVP-first releases.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831335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0C290"/>
                </a:solidFill>
                <a:latin typeface="Aptos"/>
              </a:rPr>
              <a:t>Export-control friction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059935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DAE5EE"/>
                </a:solidFill>
                <a:latin typeface="Aptos"/>
              </a:rPr>
              <a:t>Dual ITAR-clean / EAR99 variants from Day 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074920"/>
            <a:ext cx="10378440" cy="658368"/>
          </a:xfrm>
          <a:prstGeom prst="roundRect">
            <a:avLst/>
          </a:prstGeom>
          <a:solidFill>
            <a:srgbClr val="0F283F"/>
          </a:solidFill>
          <a:ln w="10160">
            <a:solidFill>
              <a:srgbClr val="21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512064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C290"/>
                </a:solidFill>
                <a:latin typeface="Aptos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12664"/>
            <a:ext cx="9601200" cy="246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Bad decks hide risk. Good decks price it, gate it and show the owner. This plan does the adult version.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8D9EB0"/>
                </a:solidFill>
                <a:latin typeface="Aptos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8D9EB0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The sensitivity slide builds trust. Say which risks move valuation and how management controls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61423"/>
                </a:solidFill>
                <a:latin typeface="Aptos"/>
              </a:rPr>
              <a:t>Operating model: platform core + product squads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Centralised reusable modules, decentralised product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pic>
        <p:nvPicPr>
          <p:cNvPr id="8" name="Picture 7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597" y="1170432"/>
            <a:ext cx="5350086" cy="3246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170432"/>
            <a:ext cx="6766560" cy="3246120"/>
          </a:xfrm>
          <a:prstGeom prst="rect">
            <a:avLst/>
          </a:prstGeom>
          <a:noFill/>
          <a:ln w="10160">
            <a:solidFill>
              <a:srgbClr val="B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123444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Execution principles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1691640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91271" y="1645920"/>
            <a:ext cx="30815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0D1723"/>
                </a:solidFill>
                <a:latin typeface="Aptos"/>
              </a:rPr>
              <a:t>Platform engineering owns M1-M5 reusable blocks.</a:t>
            </a:r>
          </a:p>
        </p:txBody>
      </p:sp>
      <p:sp>
        <p:nvSpPr>
          <p:cNvPr id="13" name="Oval 12"/>
          <p:cNvSpPr/>
          <p:nvPr/>
        </p:nvSpPr>
        <p:spPr>
          <a:xfrm>
            <a:off x="7726679" y="2020824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91271" y="1975104"/>
            <a:ext cx="30815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0D1723"/>
                </a:solidFill>
                <a:latin typeface="Aptos"/>
              </a:rPr>
              <a:t>Product squads own V1-V6 delivery and field feedback.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350008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91271" y="2304288"/>
            <a:ext cx="30815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0D1723"/>
                </a:solidFill>
                <a:latin typeface="Aptos"/>
              </a:rPr>
              <a:t>Compliance, finance and export controls scale as shared services.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2679191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1" y="2633472"/>
            <a:ext cx="30815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 i="0">
                <a:solidFill>
                  <a:srgbClr val="0D1723"/>
                </a:solidFill>
                <a:latin typeface="Aptos"/>
              </a:rPr>
              <a:t>Headcount grows from 91 in Y1 to ~543 by Y10.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83480"/>
            <a:ext cx="2423160" cy="393192"/>
          </a:xfrm>
          <a:prstGeom prst="roundRect">
            <a:avLst/>
          </a:prstGeom>
          <a:solidFill>
            <a:srgbClr val="E8F1F7"/>
          </a:solidFill>
          <a:ln w="7620">
            <a:solidFill>
              <a:srgbClr val="C4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5056632"/>
            <a:ext cx="227685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1" i="0">
                <a:solidFill>
                  <a:srgbClr val="061423"/>
                </a:solidFill>
                <a:latin typeface="Aptos"/>
              </a:rPr>
              <a:t>Y1-Y2: Partner labs + asset-light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4983480"/>
            <a:ext cx="2423160" cy="393192"/>
          </a:xfrm>
          <a:prstGeom prst="roundRect">
            <a:avLst/>
          </a:prstGeom>
          <a:solidFill>
            <a:srgbClr val="E8F1F7"/>
          </a:solidFill>
          <a:ln w="7620">
            <a:solidFill>
              <a:srgbClr val="C4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7872" y="5056632"/>
            <a:ext cx="227685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1" i="0">
                <a:solidFill>
                  <a:srgbClr val="061423"/>
                </a:solidFill>
                <a:latin typeface="Aptos"/>
              </a:rPr>
              <a:t>Y3: Anechoic / EMI / SMT ramp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983480"/>
            <a:ext cx="2423160" cy="393192"/>
          </a:xfrm>
          <a:prstGeom prst="roundRect">
            <a:avLst/>
          </a:prstGeom>
          <a:solidFill>
            <a:srgbClr val="E8F1F7"/>
          </a:solidFill>
          <a:ln w="7620">
            <a:solidFill>
              <a:srgbClr val="C4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5056632"/>
            <a:ext cx="227685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1" i="0">
                <a:solidFill>
                  <a:srgbClr val="061423"/>
                </a:solidFill>
                <a:latin typeface="Aptos"/>
              </a:rPr>
              <a:t>Y4: UAS hangar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4983480"/>
            <a:ext cx="2423160" cy="393192"/>
          </a:xfrm>
          <a:prstGeom prst="roundRect">
            <a:avLst/>
          </a:prstGeom>
          <a:solidFill>
            <a:srgbClr val="E8F1F7"/>
          </a:solidFill>
          <a:ln w="7620">
            <a:solidFill>
              <a:srgbClr val="C4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25711" y="5056632"/>
            <a:ext cx="2276856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1" i="0">
                <a:solidFill>
                  <a:srgbClr val="061423"/>
                </a:solidFill>
                <a:latin typeface="Aptos"/>
              </a:rPr>
              <a:t>Y5+: Maritime tank + export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Do not over-explain the org chart. The message is modular execution: platform core and product squads.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TRUST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61423"/>
                </a:solidFill>
                <a:latin typeface="Aptos"/>
              </a:rPr>
              <a:t>Governance, compliance and IP are designed in 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Defense buyers underwrite process maturity as much as product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325880"/>
          <a:ext cx="49377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39" b="1">
                          <a:solidFill>
                            <a:srgbClr val="FFFFFF"/>
                          </a:solidFill>
                          <a:latin typeface="Aptos"/>
                        </a:rPr>
                        <a:t>Stage</a:t>
                      </a:r>
                    </a:p>
                  </a:txBody>
                  <a:tcPr marL="63500" marR="63500" marT="38100" marB="38100">
                    <a:solidFill>
                      <a:srgbClr val="06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9" b="1">
                          <a:solidFill>
                            <a:srgbClr val="FFFFFF"/>
                          </a:solidFill>
                          <a:latin typeface="Aptos"/>
                        </a:rPr>
                        <a:t>Board shape</a:t>
                      </a:r>
                    </a:p>
                  </a:txBody>
                  <a:tcPr marL="63500" marR="63500" marT="38100" marB="38100">
                    <a:solidFill>
                      <a:srgbClr val="06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D1723"/>
                          </a:solidFill>
                          <a:latin typeface="Aptos"/>
                        </a:rPr>
                        <a:t>Post-Seed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D1723"/>
                          </a:solidFill>
                          <a:latin typeface="Aptos"/>
                        </a:rPr>
                        <a:t>5 seats: chair, 2 founders, 1 investor, 1 independent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D1723"/>
                          </a:solidFill>
                          <a:latin typeface="Aptos"/>
                        </a:rPr>
                        <a:t>Post-A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D1723"/>
                          </a:solidFill>
                          <a:latin typeface="Aptos"/>
                        </a:rPr>
                        <a:t>7 seats: 2 investors, 2 independents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D1723"/>
                          </a:solidFill>
                          <a:latin typeface="Aptos"/>
                        </a:rPr>
                        <a:t>Post-B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D1723"/>
                          </a:solidFill>
                          <a:latin typeface="Aptos"/>
                        </a:rPr>
                        <a:t>8 seats: 3 investors, 2 independents</a:t>
                      </a:r>
                    </a:p>
                  </a:txBody>
                  <a:tcPr marL="63500" marR="63500" marT="38100" marB="381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72200" y="1325880"/>
            <a:ext cx="224028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54864" cy="841248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72184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A8B9A"/>
                </a:solidFill>
                <a:latin typeface="Aptos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709928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61423"/>
                </a:solidFill>
                <a:latin typeface="Aptos"/>
              </a:rPr>
              <a:t>AS9100 + CMMI L3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783080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Defense-grade delivery discipline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325880"/>
            <a:ext cx="224028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0" y="1325880"/>
            <a:ext cx="54864" cy="84124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51392" y="1472184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A8B9A"/>
                </a:solidFill>
                <a:latin typeface="Aptos"/>
              </a:rPr>
              <a:t>CYBER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1709928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61423"/>
                </a:solidFill>
                <a:latin typeface="Aptos"/>
              </a:rPr>
              <a:t>CMMC 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1783080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Secure software and data handling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404872"/>
            <a:ext cx="224028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404872"/>
            <a:ext cx="54864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2551176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A8B9A"/>
                </a:solidFill>
                <a:latin typeface="Aptos"/>
              </a:rPr>
              <a:t>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788920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61423"/>
                </a:solidFill>
                <a:latin typeface="Aptos"/>
              </a:rPr>
              <a:t>SCOMET / ITAR / 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862072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Dual exportable variants from Day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2404872"/>
            <a:ext cx="224028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86800" y="2404872"/>
            <a:ext cx="54864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51392" y="2551176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A8B9A"/>
                </a:solidFill>
                <a:latin typeface="Aptos"/>
              </a:rPr>
              <a:t>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2788920"/>
            <a:ext cx="1947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61423"/>
                </a:solidFill>
                <a:latin typeface="Aptos"/>
              </a:rPr>
              <a:t>Platform-owned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2862072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Reusable source and data-rights strategy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160520"/>
            <a:ext cx="1037844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" y="420624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C290"/>
                </a:solidFill>
                <a:latin typeface="Aptos"/>
              </a:rPr>
              <a:t>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3982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61423"/>
                </a:solidFill>
                <a:latin typeface="Aptos"/>
              </a:rPr>
              <a:t>Investor diligence question: can this company sell to MoD and allied governments repeatedly? This is the control system for yes.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21208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61423"/>
                </a:solidFill>
                <a:latin typeface="Aptos"/>
              </a:rPr>
              <a:t>Core message</a:t>
            </a:r>
          </a:p>
        </p:txBody>
      </p:sp>
      <p:sp>
        <p:nvSpPr>
          <p:cNvPr id="33" name="Oval 32"/>
          <p:cNvSpPr/>
          <p:nvPr/>
        </p:nvSpPr>
        <p:spPr>
          <a:xfrm>
            <a:off x="1920240" y="5257800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84832" y="5212080"/>
            <a:ext cx="76992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0D1723"/>
                </a:solidFill>
                <a:latin typeface="Aptos"/>
              </a:rPr>
              <a:t>Compliance is budgeted, governed and assigned - not left as later.</a:t>
            </a:r>
          </a:p>
        </p:txBody>
      </p:sp>
      <p:sp>
        <p:nvSpPr>
          <p:cNvPr id="35" name="Oval 34"/>
          <p:cNvSpPr/>
          <p:nvPr/>
        </p:nvSpPr>
        <p:spPr>
          <a:xfrm>
            <a:off x="1920240" y="5568696"/>
            <a:ext cx="82296" cy="82296"/>
          </a:xfrm>
          <a:prstGeom prst="ellipse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84832" y="5522976"/>
            <a:ext cx="76992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0D1723"/>
                </a:solidFill>
                <a:latin typeface="Aptos"/>
              </a:rPr>
              <a:t>Source-code and platform IP ownership defend both MoD preference and export optionality.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Use this to lower perceived institutional risk. Defense investors care deeply about governance and export controls.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Aptos"/>
              </a:rPr>
              <a:t>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61423"/>
                </a:solidFill>
                <a:latin typeface="Aptos"/>
              </a:rPr>
              <a:t>Investor dashboard: the KPIs that prove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69264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The board should watch growth, profitability, capital efficiency and platform reuse.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474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A8B9A"/>
                </a:solidFill>
                <a:latin typeface="Aptos"/>
              </a:rPr>
              <a:t>NITRODYNAMICS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25880"/>
            <a:ext cx="48006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64008" cy="1078992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0876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892807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Revenue, backlog, book-to-bill, export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1325880"/>
            <a:ext cx="48006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08192" y="1325880"/>
            <a:ext cx="64008" cy="10789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50876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Profitability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92807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Gross margin, EBITDA, FCF, cumulative FCF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807208"/>
            <a:ext cx="48006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2807208"/>
            <a:ext cx="64008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299008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Capital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37413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ROIC, NWC/revenue, BG collateral, debt/equity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8192" y="2807208"/>
            <a:ext cx="48006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08192" y="2807208"/>
            <a:ext cx="64008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299008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61423"/>
                </a:solidFill>
                <a:latin typeface="Aptos"/>
              </a:rPr>
              <a:t>Platform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37413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C5C"/>
                </a:solidFill>
                <a:latin typeface="Aptos"/>
              </a:rPr>
              <a:t>Reuse %, NRE avoided, qualification schedule, RPE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590288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3232" y="4590288"/>
            <a:ext cx="54864" cy="841248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4736592"/>
            <a:ext cx="2039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Y10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974336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61423"/>
                </a:solidFill>
                <a:latin typeface="Aptos"/>
              </a:rPr>
              <a:t>Rs.5,055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047488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monthly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02152" y="4590288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02152" y="4590288"/>
            <a:ext cx="54864" cy="84124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66744" y="4736592"/>
            <a:ext cx="2039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Y10 BACKLOG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6744" y="4974336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61423"/>
                </a:solidFill>
                <a:latin typeface="Aptos"/>
              </a:rPr>
              <a:t>Rs.16,680 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66744" y="5047488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monthly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2" y="4590288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91072" y="4590288"/>
            <a:ext cx="54864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55664" y="4736592"/>
            <a:ext cx="2039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Y10 REVENUE / EMPLOYEE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4974336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61423"/>
                </a:solidFill>
                <a:latin typeface="Aptos"/>
              </a:rPr>
              <a:t>Rs.9.3 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5047488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quarterly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79991" y="4590288"/>
            <a:ext cx="2331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079991" y="4590288"/>
            <a:ext cx="54864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4583" y="4736592"/>
            <a:ext cx="2039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7A8B9A"/>
                </a:solidFill>
                <a:latin typeface="Aptos"/>
              </a:rPr>
              <a:t>Y10 REUSE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44583" y="4974336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61423"/>
                </a:solidFill>
                <a:latin typeface="Aptos"/>
              </a:rPr>
              <a:t>97-99%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3" y="5047488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3D4C5C"/>
                </a:solidFill>
                <a:latin typeface="Aptos"/>
              </a:rPr>
              <a:t>quarterly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7A8B9A"/>
                </a:solidFill>
                <a:latin typeface="Aptos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A8B9A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End diligence section by showing how management will report progress and catch slips early.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C290"/>
                </a:solidFill>
                <a:latin typeface="Aptos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"/>
              </a:rPr>
              <a:t>Lead the Seed: Rs.450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749807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DAE5EE"/>
                </a:solidFill>
                <a:latin typeface="Aptos"/>
              </a:rPr>
              <a:t>To industrialise the M1-M5 platform, deliver the ESM cash engine, launch Military AI, and unlock Wave 2 product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94760"/>
            <a:ext cx="2423160" cy="960120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3794760"/>
            <a:ext cx="54864" cy="960120"/>
          </a:xfrm>
          <a:prstGeom prst="rect">
            <a:avLst/>
          </a:prstGeom>
          <a:solidFill>
            <a:srgbClr val="00C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9410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DAY-1 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78808"/>
            <a:ext cx="21305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Rs.105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370832"/>
            <a:ext cx="2130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Aptos"/>
              </a:rPr>
              <a:t>opening order 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3794760"/>
            <a:ext cx="2423160" cy="960120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02152" y="3794760"/>
            <a:ext cx="54864" cy="9601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39410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Y10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4178808"/>
            <a:ext cx="21305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Rs.5,055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4370832"/>
            <a:ext cx="2130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Aptos"/>
              </a:rPr>
              <a:t>multi-domain prime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3794760"/>
            <a:ext cx="2423160" cy="960120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91072" y="3794760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39410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Y10 EBITDA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178808"/>
            <a:ext cx="21305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Rs.2,347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4370832"/>
            <a:ext cx="2130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Aptos"/>
              </a:rPr>
              <a:t>46.4% margin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9991" y="3794760"/>
            <a:ext cx="2423160" cy="960120"/>
          </a:xfrm>
          <a:prstGeom prst="roundRect">
            <a:avLst/>
          </a:prstGeom>
          <a:solidFill>
            <a:srgbClr val="0B263C"/>
          </a:solidFill>
          <a:ln w="10160">
            <a:solidFill>
              <a:srgbClr val="D8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79991" y="3794760"/>
            <a:ext cx="54864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4583" y="3941064"/>
            <a:ext cx="21305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C9D5E1"/>
                </a:solidFill>
                <a:latin typeface="Aptos"/>
              </a:rPr>
              <a:t>IRR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3" y="4178808"/>
            <a:ext cx="21305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31.9%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3" y="4370832"/>
            <a:ext cx="21305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Aptos"/>
              </a:rPr>
              <a:t>base case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5257800"/>
            <a:ext cx="9144000" cy="658368"/>
          </a:xfrm>
          <a:prstGeom prst="roundRect">
            <a:avLst/>
          </a:prstGeom>
          <a:solidFill>
            <a:srgbClr val="0F283F"/>
          </a:solidFill>
          <a:ln w="10160">
            <a:solidFill>
              <a:srgbClr val="214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45920" y="53035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C290"/>
                </a:solidFill>
                <a:latin typeface="Aptos"/>
              </a:rPr>
              <a:t>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4248" y="5495544"/>
            <a:ext cx="8366760" cy="246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Nitrodynamics is built to be India's reusable defense platform - one engineering base, six product lines, four domains.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8D9EB0"/>
                </a:solidFill>
                <a:latin typeface="Aptos"/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8D9EB0"/>
                </a:solidFill>
                <a:latin typeface="Aptos"/>
              </a:rPr>
              <a:t>Confidential | Investor presentation | Figures in INR Crore unless noted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0" y="1828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SPEAKER NOTES:</a:t>
            </a:r>
          </a:p>
          <a:p>
            <a:r>
              <a:t>Close by repeating the same narrative spine: revenue traction, reusable platform, disciplined capital, venture-scale upside.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2528</Words>
  <Application>Microsoft Office PowerPoint</Application>
  <PresentationFormat>Widescreen</PresentationFormat>
  <Paragraphs>470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Nitrodynamics Investor Presentation V1</dc:title>
  <dc:subject>Converted from Nitrodynamics Business Plan V4 final</dc:subject>
  <dc:creator>Caravaggio / BMAD Presentation Master</dc:creator>
  <cp:keywords/>
  <dc:description>Generated from investor_plan/Nitrodynamics_Business_Plan_V4_final.docx and project-context.md SOT.</dc:description>
  <cp:lastModifiedBy>Anupam Prasad</cp:lastModifiedBy>
  <cp:revision>2</cp:revision>
  <dcterms:created xsi:type="dcterms:W3CDTF">2013-01-27T09:14:16Z</dcterms:created>
  <dcterms:modified xsi:type="dcterms:W3CDTF">2026-07-12T02:01:08Z</dcterms:modified>
  <cp:category/>
</cp:coreProperties>
</file>